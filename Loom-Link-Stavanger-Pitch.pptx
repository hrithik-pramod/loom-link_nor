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000" b="1" i="0">
                <a:solidFill>
                  <a:srgbClr val="FFFFFF"/>
                </a:solidFill>
                <a:latin typeface="Calibri"/>
              </a:defRPr>
            </a:pPr>
            <a:r>
              <a:t>LOOM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0" i="0">
                <a:solidFill>
                  <a:srgbClr val="14B8A6"/>
                </a:solidFill>
                <a:latin typeface="Calibri"/>
              </a:defRPr>
            </a:pPr>
            <a:r>
              <a:t>Sovereign Intelligence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27432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0">
                <a:solidFill>
                  <a:srgbClr val="94A3B8"/>
                </a:solidFill>
                <a:latin typeface="Calibri"/>
              </a:defRPr>
            </a:pPr>
            <a:r>
              <a:t>Nordic Energy Matchbox 2026  |  Challenge 01: Maintenance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754880"/>
            <a:ext cx="228600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73168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100% LOCAL EXECUTION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4754880"/>
            <a:ext cx="2560320" cy="45720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4773168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 i="0">
                <a:solidFill>
                  <a:srgbClr val="14B8A6"/>
                </a:solidFill>
                <a:latin typeface="Calibri"/>
              </a:defRPr>
            </a:pPr>
            <a:r>
              <a:t>SAP CLEAN 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4754880"/>
            <a:ext cx="2286000" cy="45720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4773168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 i="0">
                <a:solidFill>
                  <a:srgbClr val="8B5CF6"/>
                </a:solidFill>
                <a:latin typeface="Calibri"/>
              </a:defRPr>
            </a:pPr>
            <a:r>
              <a:t>EN/NO BILINGUAL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 i="0">
                <a:solidFill>
                  <a:srgbClr val="94A3B8"/>
                </a:solidFill>
                <a:latin typeface="Calibri"/>
              </a:defRPr>
            </a:pPr>
            <a:r>
              <a:t>Equinor &amp; Aker BP  |  Stavanger Demo  |  April 22,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 i="0">
                <a:solidFill>
                  <a:srgbClr val="0D9488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91440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Free-Text Is Killing Maintenance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303520" cy="411480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4864" cy="4114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EF4444"/>
                </a:solidFill>
                <a:latin typeface="Calibri"/>
              </a:defRPr>
            </a:pPr>
            <a:r>
              <a:t>Current State: Manual &amp; Reactive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834640"/>
            <a:ext cx="4389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 i="0">
                <a:solidFill>
                  <a:srgbClr val="94A3B8"/>
                </a:solidFill>
                <a:latin typeface="Calibri"/>
              </a:defRPr>
            </a:pPr>
            <a:r>
              <a:t>  Technicians write unstructured SAP notifications under field stress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898648"/>
            <a:ext cx="109728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337560"/>
            <a:ext cx="4389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 i="0">
                <a:solidFill>
                  <a:srgbClr val="94A3B8"/>
                </a:solidFill>
                <a:latin typeface="Calibri"/>
              </a:defRPr>
            </a:pPr>
            <a:r>
              <a:t>  Entries like "pumpe lager høy skrapelyd" go unclassified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401568"/>
            <a:ext cx="109728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840480"/>
            <a:ext cx="4389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 i="0">
                <a:solidFill>
                  <a:srgbClr val="94A3B8"/>
                </a:solidFill>
                <a:latin typeface="Calibri"/>
              </a:defRPr>
            </a:pPr>
            <a:r>
              <a:t>  30% of maintenance man-hours lost to manual data re-entry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904488"/>
            <a:ext cx="109728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343400"/>
            <a:ext cx="4389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 i="0">
                <a:solidFill>
                  <a:srgbClr val="94A3B8"/>
                </a:solidFill>
                <a:latin typeface="Calibri"/>
              </a:defRPr>
            </a:pPr>
            <a:r>
              <a:t>  No failure pattern visibility across the asset fleet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4407408"/>
            <a:ext cx="109728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846320"/>
            <a:ext cx="4389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 i="0">
                <a:solidFill>
                  <a:srgbClr val="94A3B8"/>
                </a:solidFill>
                <a:latin typeface="Calibri"/>
              </a:defRPr>
            </a:pPr>
            <a:r>
              <a:t>  72-hour RUL forecasting is impossible without structured 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4910328"/>
            <a:ext cx="109728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011680"/>
            <a:ext cx="54864" cy="4114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219456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F59E0B"/>
                </a:solidFill>
                <a:latin typeface="Calibri"/>
              </a:defRPr>
            </a:pPr>
            <a:r>
              <a:t>Business Impact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2926080"/>
            <a:ext cx="2560320" cy="164592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2926080"/>
            <a:ext cx="2560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15468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 i="0">
                <a:solidFill>
                  <a:srgbClr val="EF4444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977639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Man-Hours Lost</a:t>
            </a:r>
            <a:br/>
            <a:r>
              <a:t>to Manual Entry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26880" y="2926080"/>
            <a:ext cx="2560320" cy="164592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26880" y="2926080"/>
            <a:ext cx="2560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59" y="315468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 i="0">
                <a:solidFill>
                  <a:srgbClr val="F59E0B"/>
                </a:solidFill>
                <a:latin typeface="Calibri"/>
              </a:defRPr>
            </a:pPr>
            <a:r>
              <a:t>45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59" y="3977639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Per Notification</a:t>
            </a:r>
            <a:br/>
            <a:r>
              <a:t>(Manual Process)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4754880"/>
            <a:ext cx="2560320" cy="164592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75120" y="4754880"/>
            <a:ext cx="256032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498348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 i="0">
                <a:solidFill>
                  <a:srgbClr val="94A3B8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80644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Predictive</a:t>
            </a:r>
            <a:br/>
            <a:r>
              <a:t>Capability Today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26880" y="4754880"/>
            <a:ext cx="2560320" cy="164592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26880" y="4754880"/>
            <a:ext cx="256032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59" y="498348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 i="0">
                <a:solidFill>
                  <a:srgbClr val="94A3B8"/>
                </a:solidFill>
                <a:latin typeface="Calibri"/>
              </a:defRPr>
            </a:pPr>
            <a:r>
              <a:t>Zero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59" y="580644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ISO 14224</a:t>
            </a:r>
            <a:br/>
            <a:r>
              <a:t>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 i="0">
                <a:solidFill>
                  <a:srgbClr val="0D9488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From Free-Text to Structured Intelligence in 5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2011680" cy="219456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201168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331720"/>
            <a:ext cx="365760" cy="36576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77440"/>
            <a:ext cx="12801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Free-Text</a:t>
            </a:r>
            <a:br/>
            <a:r>
              <a:t>Entry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1737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SAP OData</a:t>
            </a:r>
            <a:br/>
            <a:r>
              <a:t>Intercept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2103120"/>
            <a:ext cx="2011680" cy="219456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8920" y="2103120"/>
            <a:ext cx="20116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6079" y="2331720"/>
            <a:ext cx="365760" cy="3657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23317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377440"/>
            <a:ext cx="12801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Semantic</a:t>
            </a:r>
            <a:br/>
            <a:r>
              <a:t>Cache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79" y="3108960"/>
            <a:ext cx="1737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pgvector</a:t>
            </a:r>
            <a:br/>
            <a:r>
              <a:t>&gt;95% Match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2103120"/>
            <a:ext cx="2011680" cy="219456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2103120"/>
            <a:ext cx="20116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57800" y="2331720"/>
            <a:ext cx="36576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23317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2377440"/>
            <a:ext cx="12801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Mistral 7B</a:t>
            </a:r>
            <a:br/>
            <a:r>
              <a:t>Classifier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3108960"/>
            <a:ext cx="1737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Local LLM</a:t>
            </a:r>
            <a:br/>
            <a:r>
              <a:t>ISO 14224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52359" y="2103120"/>
            <a:ext cx="2011680" cy="219456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52359" y="2103120"/>
            <a:ext cx="20116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89519" y="2331720"/>
            <a:ext cx="36576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19" y="23317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39" y="2377440"/>
            <a:ext cx="12801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Reflector</a:t>
            </a:r>
            <a:br/>
            <a:r>
              <a:t>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19" y="3108960"/>
            <a:ext cx="1737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Deterministic</a:t>
            </a:r>
            <a:br/>
            <a:r>
              <a:t>&gt;= 0.85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2103120"/>
            <a:ext cx="2011680" cy="219456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84080" y="2103120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21240" y="2331720"/>
            <a:ext cx="36576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59" y="2377440"/>
            <a:ext cx="12801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SAP</a:t>
            </a:r>
            <a:br/>
            <a:r>
              <a:t>Write-Back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3108960"/>
            <a:ext cx="17373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BAPI Clean</a:t>
            </a:r>
            <a:br/>
            <a:r>
              <a:t>Core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754880"/>
            <a:ext cx="3383280" cy="146304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1520" y="4754880"/>
            <a:ext cx="54864" cy="1463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489204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0D9488"/>
                </a:solidFill>
                <a:latin typeface="Calibri"/>
              </a:defRPr>
            </a:pPr>
            <a:r>
              <a:t>100% Local Execution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303520"/>
            <a:ext cx="29260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All AI reasoning on HM90 Ryzen 9. Zero cloud calls. Zero data egress.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0" y="4754880"/>
            <a:ext cx="3383280" cy="146304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89120" y="4754880"/>
            <a:ext cx="54864" cy="1463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63440" y="489204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10B981"/>
                </a:solidFill>
                <a:latin typeface="Calibri"/>
              </a:defRPr>
            </a:pPr>
            <a:r>
              <a:t>SAP Clean Core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5303520"/>
            <a:ext cx="29260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Integration via certified BAPI only. No custom ABAP. No ERP modifications.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46720" y="4754880"/>
            <a:ext cx="3383280" cy="146304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0" y="4754880"/>
            <a:ext cx="54864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489204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F59E0B"/>
                </a:solidFill>
                <a:latin typeface="Calibri"/>
              </a:defRPr>
            </a:pPr>
            <a:r>
              <a:t>Deterministic Governance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5303520"/>
            <a:ext cx="29260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Every decision passes the Reflector Gate. Safety over probability.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 i="0">
                <a:solidFill>
                  <a:srgbClr val="0D9488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Sovereign Node — Air-Gapped, Self-Contained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972800" cy="438912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9728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0D9488"/>
                </a:solidFill>
                <a:latin typeface="Calibri"/>
              </a:defRPr>
            </a:pPr>
            <a:r>
              <a:t>HM90 SOVEREIGN NODE  (AMD Ryzen 9, 192.168.29.152)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560320"/>
            <a:ext cx="2560320" cy="1097280"/>
          </a:xfrm>
          <a:prstGeom prst="rect">
            <a:avLst/>
          </a:prstGeom>
          <a:solidFill>
            <a:srgbClr val="1A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2560320"/>
            <a:ext cx="256032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39" y="269748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Spring Boot 3.2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39" y="30632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A3B8"/>
                </a:solidFill>
                <a:latin typeface="Calibri"/>
              </a:defRPr>
            </a:pPr>
            <a:r>
              <a:t>Java 21, LangChain4j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2560320"/>
            <a:ext cx="2560320" cy="1097280"/>
          </a:xfrm>
          <a:prstGeom prst="rect">
            <a:avLst/>
          </a:prstGeom>
          <a:solidFill>
            <a:srgbClr val="1A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2560320"/>
            <a:ext cx="25603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269748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Mistral 7B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30632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A3B8"/>
                </a:solidFill>
                <a:latin typeface="Calibri"/>
              </a:defRPr>
            </a:pPr>
            <a:r>
              <a:t>Ollama (Local LLM)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560320"/>
            <a:ext cx="2560320" cy="1097280"/>
          </a:xfrm>
          <a:prstGeom prst="rect">
            <a:avLst/>
          </a:prstGeom>
          <a:solidFill>
            <a:srgbClr val="1A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0" y="2560320"/>
            <a:ext cx="25603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269748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PostgreSQL + pgvector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0632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A3B8"/>
                </a:solidFill>
                <a:latin typeface="Calibri"/>
              </a:defRPr>
            </a:pPr>
            <a:r>
              <a:t>Experience Bank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0" y="2560320"/>
            <a:ext cx="2560320" cy="1097280"/>
          </a:xfrm>
          <a:prstGeom prst="rect">
            <a:avLst/>
          </a:prstGeom>
          <a:solidFill>
            <a:srgbClr val="1A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58400" y="2560320"/>
            <a:ext cx="25603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269748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Prometheus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306324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A3B8"/>
                </a:solidFill>
                <a:latin typeface="Calibri"/>
              </a:defRPr>
            </a:pPr>
            <a:r>
              <a:t>Observability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3931920"/>
            <a:ext cx="2560320" cy="1280160"/>
          </a:xfrm>
          <a:prstGeom prst="rect">
            <a:avLst/>
          </a:prstGeom>
          <a:solidFill>
            <a:srgbClr val="1A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7280" y="3931920"/>
            <a:ext cx="54864" cy="1280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406908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8B5CF6"/>
                </a:solidFill>
                <a:latin typeface="Calibri"/>
              </a:defRPr>
            </a:pPr>
            <a:r>
              <a:t>Semantic Cache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43484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A3B8"/>
                </a:solidFill>
                <a:latin typeface="Calibri"/>
              </a:defRPr>
            </a:pPr>
            <a:r>
              <a:t>Two-tier lookup</a:t>
            </a:r>
            <a:br/>
            <a:r>
              <a:t>Exact + Trigram &gt;95%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3931920"/>
            <a:ext cx="2560320" cy="1280160"/>
          </a:xfrm>
          <a:prstGeom prst="rect">
            <a:avLst/>
          </a:prstGeom>
          <a:solidFill>
            <a:srgbClr val="1A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0" y="3931920"/>
            <a:ext cx="54864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400" y="406908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59E0B"/>
                </a:solidFill>
                <a:latin typeface="Calibri"/>
              </a:defRPr>
            </a:pPr>
            <a:r>
              <a:t>Reflector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443484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A3B8"/>
                </a:solidFill>
                <a:latin typeface="Calibri"/>
              </a:defRPr>
            </a:pPr>
            <a:r>
              <a:t>Binary pass/fail</a:t>
            </a:r>
            <a:br/>
            <a:r>
              <a:t>Confidence &gt;= 0.85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0" y="3931920"/>
            <a:ext cx="2560320" cy="1280160"/>
          </a:xfrm>
          <a:prstGeom prst="rect">
            <a:avLst/>
          </a:prstGeom>
          <a:solidFill>
            <a:srgbClr val="1A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32320" y="3931920"/>
            <a:ext cx="54864" cy="1280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0920" y="406908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EF4444"/>
                </a:solidFill>
                <a:latin typeface="Calibri"/>
              </a:defRPr>
            </a:pPr>
            <a:r>
              <a:t>Exception Inbox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443484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A3B8"/>
                </a:solidFill>
                <a:latin typeface="Calibri"/>
              </a:defRPr>
            </a:pPr>
            <a:r>
              <a:t>RBAC-protected</a:t>
            </a:r>
            <a:br/>
            <a:r>
              <a:t>Human review queue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00" y="3931920"/>
            <a:ext cx="2560320" cy="1280160"/>
          </a:xfrm>
          <a:prstGeom prst="rect">
            <a:avLst/>
          </a:prstGeom>
          <a:solidFill>
            <a:srgbClr val="1A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58400" y="3931920"/>
            <a:ext cx="54864" cy="1280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87000" y="406908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0D9488"/>
                </a:solidFill>
                <a:latin typeface="Calibri"/>
              </a:defRPr>
            </a:pPr>
            <a:r>
              <a:t>Audit Trail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4434840"/>
            <a:ext cx="21945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4A3B8"/>
                </a:solidFill>
                <a:latin typeface="Calibri"/>
              </a:defRPr>
            </a:pPr>
            <a:r>
              <a:t>Immutable log</a:t>
            </a:r>
            <a:br/>
            <a:r>
              <a:t>CSV export (Oslo TZ)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" y="5486400"/>
            <a:ext cx="10241280" cy="457200"/>
          </a:xfrm>
          <a:prstGeom prst="rect">
            <a:avLst/>
          </a:prstGeom>
          <a:solidFill>
            <a:srgbClr val="1A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97280" y="5486400"/>
            <a:ext cx="102412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71600" y="5532120"/>
            <a:ext cx="9601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 i="0">
                <a:solidFill>
                  <a:srgbClr val="10B981"/>
                </a:solidFill>
                <a:latin typeface="Calibri"/>
              </a:defRPr>
            </a:pPr>
            <a:r>
              <a:t>SAP Clean Core Integration  |  BAPI_ALM_NOTIF_DATA_MODIFY  |  OData Subscription  |  JCo 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 i="0">
                <a:solidFill>
                  <a:srgbClr val="0D9488"/>
                </a:solidFill>
                <a:latin typeface="Calibri"/>
              </a:defRPr>
            </a:pPr>
            <a:r>
              <a:t>BILINGUAL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Norwegian and English — Zero Translation Overhead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303520" cy="411480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54864" cy="4114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8B5CF6"/>
                </a:solidFill>
                <a:latin typeface="Calibri"/>
              </a:defRPr>
            </a:pPr>
            <a:r>
              <a:t>Norwegian Input (Bokmål)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651760"/>
            <a:ext cx="4572000" cy="82296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743200"/>
            <a:ext cx="4206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 i="1">
                <a:solidFill>
                  <a:srgbClr val="94A3B8"/>
                </a:solidFill>
                <a:latin typeface="Calibri"/>
              </a:defRPr>
            </a:pPr>
            <a:r>
              <a:t>"Pumpe lager høy skrapelyd fra drivende, vibrasjon øker, lagertemp 84C"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576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Mistral 7B Classification: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11480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Failure Code: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11480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0D9488"/>
                </a:solidFill>
                <a:latin typeface="Calibri"/>
              </a:defRPr>
            </a:pPr>
            <a:r>
              <a:t>VIB (Vibration)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462272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Cause Code: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446227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0D9488"/>
                </a:solidFill>
                <a:latin typeface="Calibri"/>
              </a:defRPr>
            </a:pPr>
            <a:r>
              <a:t>B01 (Bearing wear)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809744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Confidence: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4809744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10B981"/>
                </a:solidFill>
                <a:latin typeface="Calibri"/>
              </a:defRPr>
            </a:pPr>
            <a:r>
              <a:t>0.94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157216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Gate: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5157216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10B981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920240"/>
            <a:ext cx="5303520" cy="411480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920240"/>
            <a:ext cx="54864" cy="4114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21031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0D9488"/>
                </a:solidFill>
                <a:latin typeface="Calibri"/>
              </a:defRPr>
            </a:pPr>
            <a:r>
              <a:t>English Input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2651760"/>
            <a:ext cx="4572000" cy="82296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2743200"/>
            <a:ext cx="4206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 i="1">
                <a:solidFill>
                  <a:srgbClr val="94A3B8"/>
                </a:solidFill>
                <a:latin typeface="Calibri"/>
              </a:defRPr>
            </a:pPr>
            <a:r>
              <a:t>"Seal leak on pump P-1003B, dripping on skid, worse than yesterday"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6576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Mistral 7B Classification: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11480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Failure Code: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411480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0D9488"/>
                </a:solidFill>
                <a:latin typeface="Calibri"/>
              </a:defRPr>
            </a:pPr>
            <a:r>
              <a:t>ELP (Ext. Leakage)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462272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Cause Code: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446227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0D9488"/>
                </a:solidFill>
                <a:latin typeface="Calibri"/>
              </a:defRPr>
            </a:pPr>
            <a:r>
              <a:t>S02 (Seal failure)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4809744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Confidence: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4809744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10B981"/>
                </a:solidFill>
                <a:latin typeface="Calibri"/>
              </a:defRPr>
            </a:pPr>
            <a:r>
              <a:t>0.91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5157216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Gate: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5157216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10B981"/>
                </a:solidFill>
                <a:latin typeface="Calibri"/>
              </a:defRPr>
            </a:pPr>
            <a:r>
              <a:t>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 i="0">
                <a:solidFill>
                  <a:srgbClr val="0D9488"/>
                </a:solidFill>
                <a:latin typeface="Calibri"/>
              </a:defRPr>
            </a:pPr>
            <a:r>
              <a:t>DETERMINISTIC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The Reflector Gate — Safety Over Probability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5486400" cy="201168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5486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59E0B"/>
                </a:solidFill>
                <a:latin typeface="Calibri"/>
              </a:defRPr>
            </a:pPr>
            <a:r>
              <a:t>Binary Pass/Fail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9748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Confidence &gt;= 0.85 AND valid ISO code  =&gt;  PASS  =&gt;  SAP Write-Back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01752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Confidence &lt; 0.85  =&gt;  REJECT  =&gt;  Exception Inbox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33756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UNK failure code  =&gt;  ALWAYS REJECT (regardless of confidence)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65760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No probabilistic middle ground. No overrides. No bypasses.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920240"/>
            <a:ext cx="5120640" cy="201168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1920240"/>
            <a:ext cx="54864" cy="2011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21031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EF4444"/>
                </a:solidFill>
                <a:latin typeface="Calibri"/>
              </a:defRPr>
            </a:pPr>
            <a:r>
              <a:t>Exception Inbox — Human-in-the-Loop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6974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RBAC-protected: only SENIOR_ENGINEER can approve/reclassify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01752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Unknown users default to OPERATOR (view-only, no write access)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33756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Approved corrections feed back to Semantic Cache (learning loop)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65760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Full audit trail for every human decision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97680"/>
            <a:ext cx="2560320" cy="164592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297680"/>
            <a:ext cx="2560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52628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 i="0">
                <a:solidFill>
                  <a:srgbClr val="F59E0B"/>
                </a:solidFill>
                <a:latin typeface="Calibri"/>
              </a:defRPr>
            </a:pPr>
            <a:r>
              <a:t>0.85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Gate Threshold</a:t>
            </a:r>
            <a:br/>
            <a:r>
              <a:t>(Configurable)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4297680"/>
            <a:ext cx="2560320" cy="164592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83280" y="4297680"/>
            <a:ext cx="25603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452628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 i="0">
                <a:solidFill>
                  <a:srgbClr val="0D9488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534924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Audit Coverage</a:t>
            </a:r>
            <a:br/>
            <a:r>
              <a:t>(Pass + Reject)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4297680"/>
            <a:ext cx="2560320" cy="164592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0" y="4297680"/>
            <a:ext cx="25603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52628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 i="0">
                <a:solidFill>
                  <a:srgbClr val="8B5CF6"/>
                </a:solidFill>
                <a:latin typeface="Calibri"/>
              </a:defRPr>
            </a:pPr>
            <a:r>
              <a:t>4 Roles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34924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RBAC Enforcement</a:t>
            </a:r>
            <a:br/>
            <a:r>
              <a:t>(SE / OP / TE / AD)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4297680"/>
            <a:ext cx="2560320" cy="164592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86800" y="4297680"/>
            <a:ext cx="2560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0" y="452628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 i="0">
                <a:solidFill>
                  <a:srgbClr val="10B981"/>
                </a:solidFill>
                <a:latin typeface="Calibri"/>
              </a:defRPr>
            </a:pPr>
            <a:r>
              <a:t>CSV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534924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Compliance Export</a:t>
            </a:r>
            <a:br/>
            <a:r>
              <a:t>(Oslo Timezone)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 i="0">
                <a:solidFill>
                  <a:srgbClr val="0D9488"/>
                </a:solidFill>
                <a:latin typeface="Calibri"/>
              </a:defRPr>
            </a:pPr>
            <a:r>
              <a:t>SCALE &amp;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Offshore Survival Patterns — Built for North Sea Reality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2743200" cy="438912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27432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 i="0">
                <a:solidFill>
                  <a:srgbClr val="8B5CF6"/>
                </a:solidFill>
                <a:latin typeface="Calibri"/>
              </a:defRPr>
            </a:pPr>
            <a:r>
              <a:t>Semantic Cache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1">
                <a:solidFill>
                  <a:srgbClr val="94A3B8"/>
                </a:solidFill>
                <a:latin typeface="Calibri"/>
              </a:defRPr>
            </a:pPr>
            <a:r>
              <a:t>pgvector Two-Tier Lookup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81527"/>
            <a:ext cx="731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1752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Exact normalized text match (~1ms)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93008"/>
            <a:ext cx="731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290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Trigram Jaccard similarity &gt;95% (~50ms)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904488"/>
            <a:ext cx="731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4048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Bypasses Ollama entirely on cache hit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15968"/>
            <a:ext cx="731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5196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Norwegian chars (å, ø, æ) preserved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920240"/>
            <a:ext cx="2743200" cy="438912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80" y="192024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210312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 i="0">
                <a:solidFill>
                  <a:srgbClr val="F59E0B"/>
                </a:solidFill>
                <a:latin typeface="Calibri"/>
              </a:defRPr>
            </a:pPr>
            <a:r>
              <a:t>Dead Letter Queue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1460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1">
                <a:solidFill>
                  <a:srgbClr val="94A3B8"/>
                </a:solidFill>
                <a:latin typeface="Calibri"/>
              </a:defRPr>
            </a:pPr>
            <a:r>
              <a:t>SAP Sync Resilience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3081527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0" y="301752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Failed BAPI calls queued automatically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3493008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0" y="34290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Exponential backoff: 30s -&gt; 60s -&gt; 480s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3904488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0" y="384048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3 retry attempts before permanent fail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4315968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9040" y="425196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Handles offshore network drops gracefully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920240"/>
            <a:ext cx="2743200" cy="438912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1920240"/>
            <a:ext cx="2743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210312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 i="0">
                <a:solidFill>
                  <a:srgbClr val="10B981"/>
                </a:solidFill>
                <a:latin typeface="Calibri"/>
              </a:defRPr>
            </a:pPr>
            <a:r>
              <a:t>Experience Bank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51460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1">
                <a:solidFill>
                  <a:srgbClr val="94A3B8"/>
                </a:solidFill>
                <a:latin typeface="Calibri"/>
              </a:defRPr>
            </a:pPr>
            <a:r>
              <a:t>Feedback Learning Loop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3081527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301752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Senior Engineer corrections promote to cache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3493008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34290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Future similar text matches correction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904488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384048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System improves with every human review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4315968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425196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No LLM re-training required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35440" y="1920240"/>
            <a:ext cx="2743200" cy="438912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235440" y="1920240"/>
            <a:ext cx="27432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18320" y="210312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 i="0">
                <a:solidFill>
                  <a:srgbClr val="0D9488"/>
                </a:solidFill>
                <a:latin typeface="Calibri"/>
              </a:defRPr>
            </a:pPr>
            <a:r>
              <a:t>Observability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251460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1">
                <a:solidFill>
                  <a:srgbClr val="94A3B8"/>
                </a:solidFill>
                <a:latin typeface="Calibri"/>
              </a:defRPr>
            </a:pPr>
            <a:r>
              <a:t>Production Monitoring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18320" y="3081527"/>
            <a:ext cx="731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200" y="301752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Prometheus metrics + Micrometer counters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18320" y="3493008"/>
            <a:ext cx="731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0" y="34290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Correlation ID tracing (X-Trace-Id)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18320" y="3904488"/>
            <a:ext cx="731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0" y="384048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Startup health validation (boot checks)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18320" y="4315968"/>
            <a:ext cx="7315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01200" y="425196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Swagger UI for API exploration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 i="0">
                <a:solidFill>
                  <a:srgbClr val="0D9488"/>
                </a:solidFill>
                <a:latin typeface="Calibri"/>
              </a:defRPr>
            </a:pPr>
            <a:r>
              <a:t>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Measurable Value — From Day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2560320" cy="164592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25603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 i="0">
                <a:solidFill>
                  <a:srgbClr val="0D9488"/>
                </a:solidFill>
                <a:latin typeface="Calibri"/>
              </a:defRPr>
            </a:pPr>
            <a:r>
              <a:t>~5s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Automated</a:t>
            </a:r>
            <a:br/>
            <a:r>
              <a:t>Classification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920240"/>
            <a:ext cx="2560320" cy="164592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920240"/>
            <a:ext cx="2560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14884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 i="0">
                <a:solidFill>
                  <a:srgbClr val="EF4444"/>
                </a:solidFill>
                <a:latin typeface="Calibri"/>
              </a:defRPr>
            </a:pPr>
            <a:r>
              <a:t>45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9718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Manual Process</a:t>
            </a:r>
            <a:br/>
            <a:r>
              <a:t>(Before)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920240"/>
            <a:ext cx="2560320" cy="164592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920240"/>
            <a:ext cx="2560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14884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 i="0">
                <a:solidFill>
                  <a:srgbClr val="10B981"/>
                </a:solidFill>
                <a:latin typeface="Calibri"/>
              </a:defRPr>
            </a:pPr>
            <a:r>
              <a:t>540x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Speed</a:t>
            </a:r>
            <a:br/>
            <a:r>
              <a:t>Improvement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920240"/>
            <a:ext cx="2560320" cy="164592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0" y="1920240"/>
            <a:ext cx="2560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2148840"/>
            <a:ext cx="2194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 i="0">
                <a:solidFill>
                  <a:srgbClr val="F59E0B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9718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Man-Hours</a:t>
            </a:r>
            <a:br/>
            <a:r>
              <a:t>Recovered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931920"/>
            <a:ext cx="5303520" cy="256032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931920"/>
            <a:ext cx="54864" cy="2560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114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EF4444"/>
                </a:solidFill>
                <a:latin typeface="Calibri"/>
              </a:defRPr>
            </a:pPr>
            <a:r>
              <a:t>BEFORE Loom Link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61772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Manual classification by maintenance engineers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937759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45 minutes per notification on average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257799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Inconsistent ISO 14224 code 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577839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No pattern visibility across asset fleet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897879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Reactive maintenance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931920"/>
            <a:ext cx="5303520" cy="256032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3931920"/>
            <a:ext cx="54864" cy="2560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4114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0B981"/>
                </a:solidFill>
                <a:latin typeface="Calibri"/>
              </a:defRPr>
            </a:pPr>
            <a:r>
              <a:t>AFTER Loom Link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617720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Automated LLM classification in ~5 seconds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937759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Consistent ISO 14224 codes with audit trail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257799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Bilingual EN/NO support for all platforms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577839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Semantic cache accelerates repeat patterns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897879"/>
            <a:ext cx="43891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72-hour RUL forecasting now possible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 i="0">
                <a:solidFill>
                  <a:srgbClr val="0D9488"/>
                </a:solidFill>
                <a:latin typeface="Calibri"/>
              </a:defRPr>
            </a:pPr>
            <a:r>
              <a:t>TECH STACK &amp;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Production-Ready — 30+ API Endpoints, 60 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303520" cy="438912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45720" cy="4389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645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Runtime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874519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Java 21 + Spring Boot 3.2.5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5303520" cy="438912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331720"/>
            <a:ext cx="45720" cy="4389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77439"/>
            <a:ext cx="1645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8B5CF6"/>
                </a:solidFill>
                <a:latin typeface="Calibri"/>
              </a:defRPr>
            </a:pPr>
            <a:r>
              <a:t>AI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377439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LangChain4j 0.35.0 + Ollama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834639"/>
            <a:ext cx="5303520" cy="438912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834639"/>
            <a:ext cx="45720" cy="4389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80359"/>
            <a:ext cx="1645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8B5CF6"/>
                </a:solidFill>
                <a:latin typeface="Calibri"/>
              </a:defRPr>
            </a:pPr>
            <a:r>
              <a:t>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880359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Mistral 7B (Local on HM90)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337559"/>
            <a:ext cx="5303520" cy="438912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337559"/>
            <a:ext cx="45720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83279"/>
            <a:ext cx="1645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10B981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383279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PostgreSQL + pgvector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840479"/>
            <a:ext cx="5303520" cy="438912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840479"/>
            <a:ext cx="45720" cy="4389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886199"/>
            <a:ext cx="1645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API Docs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3886199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SpringDoc OpenAPI 2.3.0 / Swagger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828800"/>
            <a:ext cx="5303520" cy="438912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1828800"/>
            <a:ext cx="45720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874519"/>
            <a:ext cx="1645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59E0B"/>
                </a:solidFill>
                <a:latin typeface="Calibri"/>
              </a:defRPr>
            </a:pPr>
            <a:r>
              <a:t>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1874519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Micrometer + Prometheus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331720"/>
            <a:ext cx="5303520" cy="438912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2331720"/>
            <a:ext cx="45720" cy="4389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377439"/>
            <a:ext cx="1645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2377439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Docker (Multi-Stage) + Compose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834639"/>
            <a:ext cx="5303520" cy="438912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2834639"/>
            <a:ext cx="45720" cy="4389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2880359"/>
            <a:ext cx="1645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EF4444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2880359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API Key Auth (X-API-Key header)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337559"/>
            <a:ext cx="5303520" cy="438912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3337559"/>
            <a:ext cx="45720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3383279"/>
            <a:ext cx="1645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10B981"/>
                </a:solidFill>
                <a:latin typeface="Calibri"/>
              </a:defRPr>
            </a:pPr>
            <a:r>
              <a:t>Standards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3383279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ISO 14224, ISO 10816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840479"/>
            <a:ext cx="5303520" cy="438912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3840479"/>
            <a:ext cx="45720" cy="4389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3886199"/>
            <a:ext cx="1645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0D9488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3886199"/>
            <a:ext cx="3200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JUnit 5 + Mockito + Spring Boot Test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572000"/>
            <a:ext cx="10789920" cy="182880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4572000"/>
            <a:ext cx="107899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7280" y="475488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0D9488"/>
                </a:solidFill>
                <a:latin typeface="Calibri"/>
              </a:defRPr>
            </a:pPr>
            <a:r>
              <a:t>API Surface (30+ Endpoints)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" y="516636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14B8A6"/>
                </a:solidFill>
                <a:latin typeface="Consolas"/>
              </a:defRPr>
            </a:pPr>
            <a:r>
              <a:t>POST /api/v1/notifications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0" y="51663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Submit free-text for classification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" y="5513832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14B8A6"/>
                </a:solidFill>
                <a:latin typeface="Consolas"/>
              </a:defRPr>
            </a:pPr>
            <a:r>
              <a:t>POST /api/v1/pipeline/batch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0" y="551383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Batch processing (sequential)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5861304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14B8A6"/>
                </a:solidFill>
                <a:latin typeface="Consolas"/>
              </a:defRPr>
            </a:pPr>
            <a:r>
              <a:t>GET  /api/v1/audit/logs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0" y="5861304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Immutable audit trail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5166360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14B8A6"/>
                </a:solidFill>
                <a:latin typeface="Consolas"/>
              </a:defRPr>
            </a:pPr>
            <a:r>
              <a:t>GET  /api/v1/analytics/kpis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51663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Pipeline KPIs &amp; savings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5513832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14B8A6"/>
                </a:solidFill>
                <a:latin typeface="Consolas"/>
              </a:defRPr>
            </a:pPr>
            <a:r>
              <a:t>PUT  /api/v1/exceptions/{id}/approve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0" y="5513832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RBAC-protected approval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5861304"/>
            <a:ext cx="2926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14B8A6"/>
                </a:solidFill>
                <a:latin typeface="Consolas"/>
              </a:defRPr>
            </a:pPr>
            <a:r>
              <a:t>GET  /api/v1/health/sovereign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0" y="5861304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Sovereign node health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 i="0">
                <a:solidFill>
                  <a:srgbClr val="FFFFFF"/>
                </a:solidFill>
                <a:latin typeface="Calibri"/>
              </a:defRPr>
            </a:pPr>
            <a:r>
              <a:t>Minimal Human Interface by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468880"/>
            <a:ext cx="210312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0" i="1">
                <a:solidFill>
                  <a:srgbClr val="14B8A6"/>
                </a:solidFill>
                <a:latin typeface="Calibri"/>
              </a:defRPr>
            </a:pPr>
            <a:r>
              <a:t>The intelligence stays where the assets are.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749039"/>
            <a:ext cx="2926080" cy="146304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749039"/>
            <a:ext cx="29260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93192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 i="0">
                <a:solidFill>
                  <a:srgbClr val="0D9488"/>
                </a:solidFill>
                <a:latin typeface="Calibri"/>
              </a:defRPr>
            </a:pPr>
            <a:r>
              <a:t>Sovereign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389120"/>
            <a:ext cx="2377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100% local AI execution.</a:t>
            </a:r>
            <a:br/>
            <a:r>
              <a:t>No cloud. No data egress.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3749039"/>
            <a:ext cx="2926080" cy="146304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3749039"/>
            <a:ext cx="29260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393192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 i="0">
                <a:solidFill>
                  <a:srgbClr val="F59E0B"/>
                </a:solidFill>
                <a:latin typeface="Calibri"/>
              </a:defRPr>
            </a:pPr>
            <a:r>
              <a:t>Deterministic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4389120"/>
            <a:ext cx="2377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Every classification gated.</a:t>
            </a:r>
            <a:br/>
            <a:r>
              <a:t>Safety over speed.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3749039"/>
            <a:ext cx="2926080" cy="1463040"/>
          </a:xfrm>
          <a:prstGeom prst="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3749039"/>
            <a:ext cx="29260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393192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 i="0">
                <a:solidFill>
                  <a:srgbClr val="10B981"/>
                </a:solidFill>
                <a:latin typeface="Calibri"/>
              </a:defRPr>
            </a:pPr>
            <a:r>
              <a:t>Compliant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389120"/>
            <a:ext cx="23774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SAP Clean Core. ISO 14224.</a:t>
            </a:r>
            <a:br/>
            <a:r>
              <a:t>Full audit trail.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 i="0">
                <a:solidFill>
                  <a:srgbClr val="94A3B8"/>
                </a:solidFill>
                <a:latin typeface="Calibri"/>
              </a:defRPr>
            </a:pPr>
            <a:r>
              <a:t>LOOM LINK  |  Nordic Energy Matchbox 2026  |  Ready for Live Demo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